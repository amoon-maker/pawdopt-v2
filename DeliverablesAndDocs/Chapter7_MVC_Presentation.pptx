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965"/>
        </a:solidFill>
      </p:bgPr>
    </p:bg>
    <p:spTree>
      <p:nvGrpSpPr>
        <p:cNvPr id="1" name=""/>
        <p:cNvGrpSpPr/>
        <p:nvPr/>
      </p:nvGrpSpPr>
      <p:grpSpPr>
        <a:xfrm>
          <a:off x="0" y="0"/>
          <a:ext cx="0" cy="0"/>
          <a:chOff x="0" y="0"/>
          <a:chExt cx="0" cy="0"/>
        </a:xfrm>
      </p:grpSpPr>
      <p:sp>
        <p:nvSpPr>
          <p:cNvPr id="2" name="Shape 0"/>
          <p:cNvSpPr/>
          <p:nvPr/>
        </p:nvSpPr>
        <p:spPr>
          <a:xfrm>
            <a:off x="0" y="2743200"/>
            <a:ext cx="12188952" cy="54864"/>
          </a:xfrm>
          <a:prstGeom prst="rect">
            <a:avLst/>
          </a:prstGeom>
          <a:solidFill>
            <a:srgbClr val="E08E45"/>
          </a:solidFill>
          <a:ln/>
        </p:spPr>
      </p:sp>
      <p:sp>
        <p:nvSpPr>
          <p:cNvPr id="3" name="Text 1"/>
          <p:cNvSpPr/>
          <p:nvPr/>
        </p:nvSpPr>
        <p:spPr>
          <a:xfrm>
            <a:off x="640080" y="1920240"/>
            <a:ext cx="10972800" cy="12801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Capítulo 7: Model-View-Controller (MVC)</a:t>
            </a:r>
            <a:endParaRPr lang="en-US" sz="3600" dirty="0"/>
          </a:p>
        </p:txBody>
      </p:sp>
      <p:sp>
        <p:nvSpPr>
          <p:cNvPr id="4" name="Text 2"/>
          <p:cNvSpPr/>
          <p:nvPr/>
        </p:nvSpPr>
        <p:spPr>
          <a:xfrm>
            <a:off x="640080" y="3017520"/>
            <a:ext cx="10972800" cy="731520"/>
          </a:xfrm>
          <a:prstGeom prst="rect">
            <a:avLst/>
          </a:prstGeom>
          <a:noFill/>
          <a:ln/>
        </p:spPr>
        <p:txBody>
          <a:bodyPr wrap="square" rtlCol="0" anchor="ctr"/>
          <a:lstStyle/>
          <a:p>
            <a:pPr indent="0" marL="0">
              <a:buNone/>
            </a:pPr>
            <a:r>
              <a:rPr lang="en-US" sz="1800" dirty="0">
                <a:solidFill>
                  <a:srgbClr val="5FA8D3"/>
                </a:solidFill>
                <a:latin typeface="Calibri" pitchFamily="34" charset="0"/>
                <a:ea typeface="Calibri" pitchFamily="34" charset="-122"/>
                <a:cs typeface="Calibri" pitchFamily="34" charset="-120"/>
              </a:rPr>
              <a:t>Organización del sistema y preparación del Deliverable II — System Development (420-940-VA)</a:t>
            </a:r>
            <a:endParaRPr lang="en-US" sz="1800" dirty="0"/>
          </a:p>
        </p:txBody>
      </p:sp>
      <p:sp>
        <p:nvSpPr>
          <p:cNvPr id="5" name="Text 3"/>
          <p:cNvSpPr/>
          <p:nvPr/>
        </p:nvSpPr>
        <p:spPr>
          <a:xfrm>
            <a:off x="640080" y="6035040"/>
            <a:ext cx="9144000" cy="365760"/>
          </a:xfrm>
          <a:prstGeom prst="rect">
            <a:avLst/>
          </a:prstGeom>
          <a:noFill/>
          <a:ln/>
        </p:spPr>
        <p:txBody>
          <a:bodyPr wrap="square" rtlCol="0" anchor="ctr"/>
          <a:lstStyle/>
          <a:p>
            <a:pPr indent="0" marL="0">
              <a:buNone/>
            </a:pPr>
            <a:r>
              <a:rPr lang="en-US" sz="1300" i="1" dirty="0">
                <a:solidFill>
                  <a:srgbClr val="FFFFFF"/>
                </a:solidFill>
              </a:rPr>
              <a:t>Vanier College — Faculty of Continuing Education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7.1 ¿Por qué importa la Semana 7?</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El proyecto ya no es solo una idea: ya existen propósito, requisitos, user stories, modelos UML, pantallas, CRUD inicial y el primer entregable.</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Problema: a medida que el proyecto crece, el código se vuelve desordenado.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Los formularios acumulan demasiada lógica; las reglas de datos se repiten en varios lugares.</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La interfaz, los datos y la lógica de negocio comienzan a mezclarse de forma confusa.</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Solución: el framework Model-View-Controller (MVC) da una forma más limpia de organizar el sistema.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7.2 ¿Qué es Model-View-Controller?</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MVC es un framework de diseño de software que separa la aplicación en tres partes principales:</a:t>
            </a:r>
            <a:endParaRPr lang="en-US" sz="1800" dirty="0"/>
          </a:p>
          <a:p>
            <a:pPr marL="342900" indent="-342900">
              <a:lnSpc>
                <a:spcPct val="115000"/>
              </a:lnSpc>
              <a:buSzPct val="100000"/>
              <a:buChar char="▸"/>
            </a:pPr>
            <a:r>
              <a:rPr lang="en-US" sz="1800" b="1" dirty="0">
                <a:solidFill>
                  <a:srgbClr val="1B4965"/>
                </a:solidFill>
                <a:latin typeface="Calibri" pitchFamily="34" charset="0"/>
                <a:ea typeface="Calibri" pitchFamily="34" charset="-122"/>
                <a:cs typeface="Calibri" pitchFamily="34" charset="-120"/>
              </a:rPr>
              <a:t>El Modelo (Model)</a:t>
            </a:r>
            <a:endParaRPr lang="en-US" sz="1800" dirty="0"/>
          </a:p>
          <a:p>
            <a:pPr marL="342900" indent="-342900">
              <a:lnSpc>
                <a:spcPct val="115000"/>
              </a:lnSpc>
              <a:buSzPct val="100000"/>
              <a:buChar char="▸"/>
            </a:pPr>
            <a:r>
              <a:rPr lang="en-US" sz="1800" b="1" dirty="0">
                <a:solidFill>
                  <a:srgbClr val="1B4965"/>
                </a:solidFill>
                <a:latin typeface="Calibri" pitchFamily="34" charset="0"/>
                <a:ea typeface="Calibri" pitchFamily="34" charset="-122"/>
                <a:cs typeface="Calibri" pitchFamily="34" charset="-120"/>
              </a:rPr>
              <a:t>La Vista (View)</a:t>
            </a:r>
            <a:endParaRPr lang="en-US" sz="1800" dirty="0"/>
          </a:p>
          <a:p>
            <a:pPr marL="342900" indent="-342900">
              <a:lnSpc>
                <a:spcPct val="115000"/>
              </a:lnSpc>
              <a:buSzPct val="100000"/>
              <a:buChar char="▸"/>
            </a:pPr>
            <a:r>
              <a:rPr lang="en-US" sz="1800" b="1" dirty="0">
                <a:solidFill>
                  <a:srgbClr val="1B4965"/>
                </a:solidFill>
                <a:latin typeface="Calibri" pitchFamily="34" charset="0"/>
                <a:ea typeface="Calibri" pitchFamily="34" charset="-122"/>
                <a:cs typeface="Calibri" pitchFamily="34" charset="-120"/>
              </a:rPr>
              <a:t>El Controlador (Controller)</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Idea central: en lugar de poner todo en todas partes, MVC separa los datos, la interfaz y la lógica de control.</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Resultado: un proyecto más fácil de entender, probar, mejorar y extender.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Figura 7.1 — Arquitectura clásica de MVC</a:t>
            </a:r>
            <a:endParaRPr lang="en-US" sz="2600" dirty="0"/>
          </a:p>
        </p:txBody>
      </p:sp>
      <p:sp>
        <p:nvSpPr>
          <p:cNvPr id="4" name="Shape 2"/>
          <p:cNvSpPr/>
          <p:nvPr/>
        </p:nvSpPr>
        <p:spPr>
          <a:xfrm>
            <a:off x="731520" y="1645920"/>
            <a:ext cx="2926080" cy="1463040"/>
          </a:xfrm>
          <a:prstGeom prst="roundRect">
            <a:avLst>
              <a:gd name="adj" fmla="val 6250"/>
            </a:avLst>
          </a:prstGeom>
          <a:solidFill>
            <a:srgbClr val="EDE7F6"/>
          </a:solidFill>
          <a:ln w="25400">
            <a:solidFill>
              <a:srgbClr val="7E57C2"/>
            </a:solidFill>
            <a:prstDash val="solid"/>
          </a:ln>
        </p:spPr>
      </p:sp>
      <p:sp>
        <p:nvSpPr>
          <p:cNvPr id="5" name="Text 3"/>
          <p:cNvSpPr/>
          <p:nvPr/>
        </p:nvSpPr>
        <p:spPr>
          <a:xfrm>
            <a:off x="731520" y="1645920"/>
            <a:ext cx="2926080" cy="1463040"/>
          </a:xfrm>
          <a:prstGeom prst="rect">
            <a:avLst/>
          </a:prstGeom>
          <a:noFill/>
          <a:ln/>
        </p:spPr>
        <p:txBody>
          <a:bodyPr wrap="square" rtlCol="0" anchor="ctr"/>
          <a:lstStyle/>
          <a:p>
            <a:pPr algn="ctr" indent="0" marL="0">
              <a:buNone/>
            </a:pPr>
            <a:r>
              <a:rPr lang="en-US" sz="1300" dirty="0">
                <a:solidFill>
                  <a:srgbClr val="1F2A33"/>
                </a:solidFill>
                <a:latin typeface="Calibri" pitchFamily="34" charset="0"/>
                <a:ea typeface="Calibri" pitchFamily="34" charset="-122"/>
                <a:cs typeface="Calibri" pitchFamily="34" charset="-120"/>
              </a:rPr>
              <a:t>MODEL</a:t>
            </a:r>
            <a:endParaRPr lang="en-US" sz="1300" dirty="0"/>
          </a:p>
          <a:p>
            <a:pPr algn="ctr" indent="0" marL="0">
              <a:buNone/>
            </a:pPr>
            <a:r>
              <a:rPr lang="en-US" sz="1300" dirty="0">
                <a:solidFill>
                  <a:srgbClr val="1F2A33"/>
                </a:solidFill>
                <a:latin typeface="Calibri" pitchFamily="34" charset="0"/>
                <a:ea typeface="Calibri" pitchFamily="34" charset="-122"/>
                <a:cs typeface="Calibri" pitchFamily="34" charset="-120"/>
              </a:rPr>
              <a:t>Maneja la lógica de datos</a:t>
            </a:r>
            <a:endParaRPr lang="en-US" sz="1300" dirty="0"/>
          </a:p>
          <a:p>
            <a:pPr algn="ctr" indent="0" marL="0">
              <a:buNone/>
            </a:pPr>
            <a:r>
              <a:rPr lang="en-US" sz="1300" dirty="0">
                <a:solidFill>
                  <a:srgbClr val="1F2A33"/>
                </a:solidFill>
                <a:latin typeface="Calibri" pitchFamily="34" charset="0"/>
                <a:ea typeface="Calibri" pitchFamily="34" charset="-122"/>
                <a:cs typeface="Calibri" pitchFamily="34" charset="-120"/>
              </a:rPr>
              <a:t>Interactúa con la base de datos</a:t>
            </a:r>
            <a:endParaRPr lang="en-US" sz="1300" dirty="0"/>
          </a:p>
        </p:txBody>
      </p:sp>
      <p:sp>
        <p:nvSpPr>
          <p:cNvPr id="6" name="Shape 4"/>
          <p:cNvSpPr/>
          <p:nvPr/>
        </p:nvSpPr>
        <p:spPr>
          <a:xfrm>
            <a:off x="8503920" y="1645920"/>
            <a:ext cx="2926080" cy="1463040"/>
          </a:xfrm>
          <a:prstGeom prst="roundRect">
            <a:avLst>
              <a:gd name="adj" fmla="val 6250"/>
            </a:avLst>
          </a:prstGeom>
          <a:solidFill>
            <a:srgbClr val="E0F2F1"/>
          </a:solidFill>
          <a:ln w="25400">
            <a:solidFill>
              <a:srgbClr val="26A69A"/>
            </a:solidFill>
            <a:prstDash val="solid"/>
          </a:ln>
        </p:spPr>
      </p:sp>
      <p:sp>
        <p:nvSpPr>
          <p:cNvPr id="7" name="Text 5"/>
          <p:cNvSpPr/>
          <p:nvPr/>
        </p:nvSpPr>
        <p:spPr>
          <a:xfrm>
            <a:off x="8503920" y="1645920"/>
            <a:ext cx="2926080" cy="1463040"/>
          </a:xfrm>
          <a:prstGeom prst="rect">
            <a:avLst/>
          </a:prstGeom>
          <a:noFill/>
          <a:ln/>
        </p:spPr>
        <p:txBody>
          <a:bodyPr wrap="square" rtlCol="0" anchor="ctr"/>
          <a:lstStyle/>
          <a:p>
            <a:pPr algn="ctr" indent="0" marL="0">
              <a:buNone/>
            </a:pPr>
            <a:r>
              <a:rPr lang="en-US" sz="1300" dirty="0">
                <a:solidFill>
                  <a:srgbClr val="1F2A33"/>
                </a:solidFill>
                <a:latin typeface="Calibri" pitchFamily="34" charset="0"/>
                <a:ea typeface="Calibri" pitchFamily="34" charset="-122"/>
                <a:cs typeface="Calibri" pitchFamily="34" charset="-120"/>
              </a:rPr>
              <a:t>VIEW</a:t>
            </a:r>
            <a:endParaRPr lang="en-US" sz="1300" dirty="0"/>
          </a:p>
          <a:p>
            <a:pPr algn="ctr" indent="0" marL="0">
              <a:buNone/>
            </a:pPr>
            <a:r>
              <a:rPr lang="en-US" sz="1300" dirty="0">
                <a:solidFill>
                  <a:srgbClr val="1F2A33"/>
                </a:solidFill>
                <a:latin typeface="Calibri" pitchFamily="34" charset="0"/>
                <a:ea typeface="Calibri" pitchFamily="34" charset="-122"/>
                <a:cs typeface="Calibri" pitchFamily="34" charset="-120"/>
              </a:rPr>
              <a:t>Maneja presentación de datos</a:t>
            </a:r>
            <a:endParaRPr lang="en-US" sz="1300" dirty="0"/>
          </a:p>
          <a:p>
            <a:pPr algn="ctr" indent="0" marL="0">
              <a:buNone/>
            </a:pPr>
            <a:r>
              <a:rPr lang="en-US" sz="1300" dirty="0">
                <a:solidFill>
                  <a:srgbClr val="1F2A33"/>
                </a:solidFill>
                <a:latin typeface="Calibri" pitchFamily="34" charset="0"/>
                <a:ea typeface="Calibri" pitchFamily="34" charset="-122"/>
                <a:cs typeface="Calibri" pitchFamily="34" charset="-120"/>
              </a:rPr>
              <a:t>Renderizado dinámico</a:t>
            </a:r>
            <a:endParaRPr lang="en-US" sz="1300" dirty="0"/>
          </a:p>
        </p:txBody>
      </p:sp>
      <p:sp>
        <p:nvSpPr>
          <p:cNvPr id="8" name="Shape 6"/>
          <p:cNvSpPr/>
          <p:nvPr/>
        </p:nvSpPr>
        <p:spPr>
          <a:xfrm>
            <a:off x="4617720" y="3474720"/>
            <a:ext cx="2926080" cy="1463040"/>
          </a:xfrm>
          <a:prstGeom prst="roundRect">
            <a:avLst>
              <a:gd name="adj" fmla="val 6250"/>
            </a:avLst>
          </a:prstGeom>
          <a:solidFill>
            <a:srgbClr val="FFF8E1"/>
          </a:solidFill>
          <a:ln w="25400">
            <a:solidFill>
              <a:srgbClr val="F9A825"/>
            </a:solidFill>
            <a:prstDash val="solid"/>
          </a:ln>
        </p:spPr>
      </p:sp>
      <p:sp>
        <p:nvSpPr>
          <p:cNvPr id="9" name="Text 7"/>
          <p:cNvSpPr/>
          <p:nvPr/>
        </p:nvSpPr>
        <p:spPr>
          <a:xfrm>
            <a:off x="4617720" y="3474720"/>
            <a:ext cx="2926080" cy="1463040"/>
          </a:xfrm>
          <a:prstGeom prst="rect">
            <a:avLst/>
          </a:prstGeom>
          <a:noFill/>
          <a:ln/>
        </p:spPr>
        <p:txBody>
          <a:bodyPr wrap="square" rtlCol="0" anchor="ctr"/>
          <a:lstStyle/>
          <a:p>
            <a:pPr algn="ctr" indent="0" marL="0">
              <a:buNone/>
            </a:pPr>
            <a:r>
              <a:rPr lang="en-US" sz="1300" dirty="0">
                <a:solidFill>
                  <a:srgbClr val="1F2A33"/>
                </a:solidFill>
                <a:latin typeface="Calibri" pitchFamily="34" charset="0"/>
                <a:ea typeface="Calibri" pitchFamily="34" charset="-122"/>
                <a:cs typeface="Calibri" pitchFamily="34" charset="-120"/>
              </a:rPr>
              <a:t>CONTROLLER</a:t>
            </a:r>
            <a:endParaRPr lang="en-US" sz="1300" dirty="0"/>
          </a:p>
          <a:p>
            <a:pPr algn="ctr" indent="0" marL="0">
              <a:buNone/>
            </a:pPr>
            <a:r>
              <a:rPr lang="en-US" sz="1300" dirty="0">
                <a:solidFill>
                  <a:srgbClr val="1F2A33"/>
                </a:solidFill>
                <a:latin typeface="Calibri" pitchFamily="34" charset="0"/>
                <a:ea typeface="Calibri" pitchFamily="34" charset="-122"/>
                <a:cs typeface="Calibri" pitchFamily="34" charset="-120"/>
              </a:rPr>
              <a:t>Maneja el flujo de solicitudes</a:t>
            </a:r>
            <a:endParaRPr lang="en-US" sz="1300" dirty="0"/>
          </a:p>
          <a:p>
            <a:pPr algn="ctr" indent="0" marL="0">
              <a:buNone/>
            </a:pPr>
            <a:r>
              <a:rPr lang="en-US" sz="1300" dirty="0">
                <a:solidFill>
                  <a:srgbClr val="1F2A33"/>
                </a:solidFill>
                <a:latin typeface="Calibri" pitchFamily="34" charset="0"/>
                <a:ea typeface="Calibri" pitchFamily="34" charset="-122"/>
                <a:cs typeface="Calibri" pitchFamily="34" charset="-120"/>
              </a:rPr>
              <a:t>Nunca maneja lógica de datos</a:t>
            </a:r>
            <a:endParaRPr lang="en-US" sz="1300" dirty="0"/>
          </a:p>
        </p:txBody>
      </p:sp>
      <p:sp>
        <p:nvSpPr>
          <p:cNvPr id="10" name="Shape 8"/>
          <p:cNvSpPr/>
          <p:nvPr/>
        </p:nvSpPr>
        <p:spPr>
          <a:xfrm>
            <a:off x="731520" y="5394960"/>
            <a:ext cx="2377440" cy="914400"/>
          </a:xfrm>
          <a:prstGeom prst="roundRect">
            <a:avLst>
              <a:gd name="adj" fmla="val 10000"/>
            </a:avLst>
          </a:prstGeom>
          <a:solidFill>
            <a:srgbClr val="ECEFF1"/>
          </a:solidFill>
          <a:ln w="25400">
            <a:solidFill>
              <a:srgbClr val="607D8B"/>
            </a:solidFill>
            <a:prstDash val="solid"/>
          </a:ln>
        </p:spPr>
      </p:sp>
      <p:sp>
        <p:nvSpPr>
          <p:cNvPr id="11" name="Text 9"/>
          <p:cNvSpPr/>
          <p:nvPr/>
        </p:nvSpPr>
        <p:spPr>
          <a:xfrm>
            <a:off x="731520" y="5394960"/>
            <a:ext cx="2377440" cy="914400"/>
          </a:xfrm>
          <a:prstGeom prst="rect">
            <a:avLst/>
          </a:prstGeom>
          <a:noFill/>
          <a:ln/>
        </p:spPr>
        <p:txBody>
          <a:bodyPr wrap="square" rtlCol="0" anchor="ctr"/>
          <a:lstStyle/>
          <a:p>
            <a:pPr algn="ctr" indent="0" marL="0">
              <a:buNone/>
            </a:pPr>
            <a:r>
              <a:rPr lang="en-US" sz="1300" b="1" dirty="0">
                <a:solidFill>
                  <a:srgbClr val="1F2A33"/>
                </a:solidFill>
                <a:latin typeface="Calibri" pitchFamily="34" charset="0"/>
                <a:ea typeface="Calibri" pitchFamily="34" charset="-122"/>
                <a:cs typeface="Calibri" pitchFamily="34" charset="-120"/>
              </a:rPr>
              <a:t>END USER</a:t>
            </a:r>
            <a:endParaRPr lang="en-US" sz="1300" dirty="0"/>
          </a:p>
        </p:txBody>
      </p:sp>
      <p:sp>
        <p:nvSpPr>
          <p:cNvPr id="12" name="Text 10"/>
          <p:cNvSpPr/>
          <p:nvPr/>
        </p:nvSpPr>
        <p:spPr>
          <a:xfrm>
            <a:off x="3566160" y="2560320"/>
            <a:ext cx="1188720" cy="365760"/>
          </a:xfrm>
          <a:prstGeom prst="rect">
            <a:avLst/>
          </a:prstGeom>
          <a:noFill/>
          <a:ln/>
        </p:spPr>
        <p:txBody>
          <a:bodyPr wrap="square" rtlCol="0" anchor="ctr"/>
          <a:lstStyle/>
          <a:p>
            <a:pPr algn="ctr" indent="0" marL="0">
              <a:buNone/>
            </a:pPr>
            <a:r>
              <a:rPr lang="en-US" sz="1000" dirty="0">
                <a:solidFill>
                  <a:srgbClr val="1B4965"/>
                </a:solidFill>
              </a:rPr>
              <a:t>Fetch Data</a:t>
            </a:r>
            <a:endParaRPr lang="en-US" sz="1000" dirty="0"/>
          </a:p>
        </p:txBody>
      </p:sp>
      <p:sp>
        <p:nvSpPr>
          <p:cNvPr id="13" name="Text 11"/>
          <p:cNvSpPr/>
          <p:nvPr/>
        </p:nvSpPr>
        <p:spPr>
          <a:xfrm>
            <a:off x="7223760" y="2560320"/>
            <a:ext cx="1371600" cy="365760"/>
          </a:xfrm>
          <a:prstGeom prst="rect">
            <a:avLst/>
          </a:prstGeom>
          <a:noFill/>
          <a:ln/>
        </p:spPr>
        <p:txBody>
          <a:bodyPr wrap="square" rtlCol="0" anchor="ctr"/>
          <a:lstStyle/>
          <a:p>
            <a:pPr algn="ctr" indent="0" marL="0">
              <a:buNone/>
            </a:pPr>
            <a:r>
              <a:rPr lang="en-US" sz="1000" dirty="0">
                <a:solidFill>
                  <a:srgbClr val="1B4965"/>
                </a:solidFill>
              </a:rPr>
              <a:t>Fetch Presentation</a:t>
            </a:r>
            <a:endParaRPr lang="en-US" sz="1000" dirty="0"/>
          </a:p>
        </p:txBody>
      </p:sp>
      <p:sp>
        <p:nvSpPr>
          <p:cNvPr id="14" name="Text 12"/>
          <p:cNvSpPr/>
          <p:nvPr/>
        </p:nvSpPr>
        <p:spPr>
          <a:xfrm>
            <a:off x="914400" y="4572000"/>
            <a:ext cx="2377440" cy="548640"/>
          </a:xfrm>
          <a:prstGeom prst="rect">
            <a:avLst/>
          </a:prstGeom>
          <a:noFill/>
          <a:ln/>
        </p:spPr>
        <p:txBody>
          <a:bodyPr wrap="square" rtlCol="0" anchor="ctr"/>
          <a:lstStyle/>
          <a:p>
            <a:pPr algn="ctr" indent="0" marL="0">
              <a:buNone/>
            </a:pPr>
            <a:r>
              <a:rPr lang="en-US" sz="1000" dirty="0">
                <a:solidFill>
                  <a:srgbClr val="1B4965"/>
                </a:solidFill>
              </a:rPr>
              <a:t>Request / Response</a:t>
            </a:r>
            <a:endParaRPr lang="en-US" sz="1000" dirty="0"/>
          </a:p>
        </p:txBody>
      </p:sp>
      <p:sp>
        <p:nvSpPr>
          <p:cNvPr id="15" name="Text 13"/>
          <p:cNvSpPr/>
          <p:nvPr/>
        </p:nvSpPr>
        <p:spPr>
          <a:xfrm>
            <a:off x="640080" y="6309360"/>
            <a:ext cx="10972800" cy="457200"/>
          </a:xfrm>
          <a:prstGeom prst="rect">
            <a:avLst/>
          </a:prstGeom>
          <a:noFill/>
          <a:ln/>
        </p:spPr>
        <p:txBody>
          <a:bodyPr wrap="square" rtlCol="0" anchor="ctr"/>
          <a:lstStyle/>
          <a:p>
            <a:pPr indent="0" marL="0">
              <a:buNone/>
            </a:pPr>
            <a:r>
              <a:rPr lang="en-US" sz="1300" i="1" dirty="0">
                <a:solidFill>
                  <a:srgbClr val="555555"/>
                </a:solidFill>
              </a:rPr>
              <a:t>Flujo: el usuario nunca habla directo con la Base de Datos. Pasa siempre por el Controller.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7.4 El Modelo (Model)</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Representa los datos y la lógica conectada a esos datos.</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Incluye: clases de entidades importantes, valores y propiedades, reglas de validez, operaciones sobre esos objetos.</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Ejemplo (sistema de citas de asesoría):</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Clases: Student, Advisor, Appointment</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Appointment guarda: identificador, número de estudiante, fecha, motivo, estado (status)</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El Modelo no es solo un contenedor de datos: también refleja el significado y las reglas reales de la información.</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Conexión con la Semana 6: claves primarias, claves foráneas y relaciones del diseño de base de datos alimentan directamente al Modelo.</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7.5 La Vista (View)</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Es la parte de la aplicación que el usuario ve.</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Incluye: formularios, etiquetas, cajas de texto, botones, menús, listas, grids, mensajes y otros elementos de interfaz.</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En C# Windows Forms, la Vista es el formulario visible mismo.</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Ejemplos:</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Appointment Request Form, Advisor Dashboard, pantalla de login, lista en un DataGridView</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Regla clave: la Vista presenta información y recibe interacción del usuario — NO debe contener toda la lógica de la aplicación.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7.6 El Controlador (Controller)</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Maneja la interacción entre la Vista y el Modelo.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Cuando el usuario hace clic, envía un formulario o elige una opción, el Controlador decide qué debe pasar después.</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Secuencia típica:</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1) El usuario hace clic en Submit  2) El Controlador lee la entrada de la Vista  3) Verifica/activa reglas del Modelo  4) Actualiza los datos  5) Indica a la Vista qué mostrar</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En proyectos principiantes no siempre hay una clase Controller formal, pero la mentalidad MVC ya debe aplicarse: Vista muestra, Modelo almacena, Controlador coordina.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7.7 Una forma simple de entender MVC</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Modelo = la realidad de datos del sistema</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Vista = la cara visible del sistema</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Controlador = el gestor de tráfico entre ambos</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Cuando un estudiante ingresa datos en un formulario: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La Vista muestra el formulario → El Controlador maneja el clic/evento → El Modelo guarda o actualiza el dato.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Esta separación hace que toda la aplicación sea más organizada.</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7.8 MVC = Separación de responsabilidades</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Separación de responsabilidades: cada parte del sistema debe encargarse de un trabajo distinto.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Problema sin MVC: un solo formulario que guarda datos, valida reglas, navega, consulta registros y controla transiciones de pantalla a la vez.</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Funciona a pequeña escala, pero al crecer el proyecto se vuelve confuso — un cambio en un lugar rompe algo en otro.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MVC reduce esa confusión asignando responsabilidades claras a cada capa.</a:t>
            </a:r>
            <a:endParaRPr lang="en-US" sz="1800" dirty="0"/>
          </a:p>
          <a:p>
            <a:pPr indent="0" marL="0">
              <a:lnSpc>
                <a:spcPct val="115000"/>
              </a:lnSpc>
              <a:buNone/>
            </a:pPr>
            <a:r>
              <a:rPr lang="en-US" sz="1800" i="1" dirty="0">
                <a:solidFill>
                  <a:srgbClr val="E08E45"/>
                </a:solidFill>
                <a:latin typeface="Calibri" pitchFamily="34" charset="0"/>
                <a:ea typeface="Calibri" pitchFamily="34" charset="-122"/>
                <a:cs typeface="Calibri" pitchFamily="34" charset="-120"/>
              </a:rPr>
              <a:t>Mensaje clave del diagrama: "Separation of Concerns for maintainable code."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Flujo completo del diagrama (Figura 7.1)</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1. User Interaction (Input) → View</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2. El Controller procesa la acción y actualiza el Model</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3. El Model representa los datos y reglas de negocio; la persistencia normalmente se hace vía un repositorio o capa de acceso a datos</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4. El Controller indica a la View que se actualice</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5. La View muestra los datos actualizados al usuario</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Flujo recomendado para principiantes en C# Windows Forms:</a:t>
            </a:r>
            <a:endParaRPr lang="en-US" sz="1800" dirty="0"/>
          </a:p>
          <a:p>
            <a:pPr indent="0" marL="0">
              <a:lnSpc>
                <a:spcPct val="115000"/>
              </a:lnSpc>
              <a:buNone/>
            </a:pPr>
            <a:r>
              <a:rPr lang="en-US" sz="2000" b="1" dirty="0">
                <a:solidFill>
                  <a:srgbClr val="E08E45"/>
                </a:solidFill>
                <a:latin typeface="Calibri" pitchFamily="34" charset="0"/>
                <a:ea typeface="Calibri" pitchFamily="34" charset="-122"/>
                <a:cs typeface="Calibri" pitchFamily="34" charset="-120"/>
              </a:rPr>
              <a:t>User → View → Controller → Model → Controller → View</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Ejemplo técnico — El Modelo (C#)</a:t>
            </a:r>
            <a:endParaRPr lang="en-US" sz="2600" dirty="0"/>
          </a:p>
        </p:txBody>
      </p:sp>
      <p:sp>
        <p:nvSpPr>
          <p:cNvPr id="4" name="Shape 2"/>
          <p:cNvSpPr/>
          <p:nvPr/>
        </p:nvSpPr>
        <p:spPr>
          <a:xfrm>
            <a:off x="548640" y="1097280"/>
            <a:ext cx="11064240" cy="5120640"/>
          </a:xfrm>
          <a:prstGeom prst="roundRect">
            <a:avLst>
              <a:gd name="adj" fmla="val 893"/>
            </a:avLst>
          </a:prstGeom>
          <a:solidFill>
            <a:srgbClr val="1E1E1E"/>
          </a:solidFill>
          <a:ln w="12700">
            <a:solidFill>
              <a:srgbClr val="333333"/>
            </a:solidFill>
            <a:prstDash val="solid"/>
          </a:ln>
        </p:spPr>
      </p:sp>
      <p:sp>
        <p:nvSpPr>
          <p:cNvPr id="5" name="Text 3"/>
          <p:cNvSpPr/>
          <p:nvPr/>
        </p:nvSpPr>
        <p:spPr>
          <a:xfrm>
            <a:off x="822960" y="1371600"/>
            <a:ext cx="10515600" cy="4572000"/>
          </a:xfrm>
          <a:prstGeom prst="rect">
            <a:avLst/>
          </a:prstGeom>
          <a:noFill/>
          <a:ln/>
        </p:spPr>
        <p:txBody>
          <a:bodyPr wrap="square" rtlCol="0" anchor="t"/>
          <a:lstStyle/>
          <a:p>
            <a:pPr indent="0" marL="0">
              <a:buNone/>
            </a:pPr>
            <a:r>
              <a:rPr lang="en-US" sz="1600" dirty="0">
                <a:solidFill>
                  <a:srgbClr val="D4D4D4"/>
                </a:solidFill>
                <a:latin typeface="Consolas" pitchFamily="34" charset="0"/>
                <a:ea typeface="Consolas" pitchFamily="34" charset="-122"/>
                <a:cs typeface="Consolas" pitchFamily="34" charset="-120"/>
              </a:rPr>
              <a:t>public class Appointment</a:t>
            </a:r>
            <a:endParaRPr lang="en-US" sz="1600" dirty="0"/>
          </a:p>
          <a:p>
            <a:pPr indent="0" marL="0">
              <a:buNone/>
            </a:pPr>
            <a:r>
              <a:rPr lang="en-US" sz="1600" dirty="0">
                <a:solidFill>
                  <a:srgbClr val="D4D4D4"/>
                </a:solidFill>
                <a:latin typeface="Consolas" pitchFamily="34" charset="0"/>
                <a:ea typeface="Consolas" pitchFamily="34" charset="-122"/>
                <a:cs typeface="Consolas" pitchFamily="34" charset="-120"/>
              </a:rPr>
              <a:t>{</a:t>
            </a:r>
            <a:endParaRPr lang="en-US" sz="1600" dirty="0"/>
          </a:p>
          <a:p>
            <a:pPr indent="0" marL="0">
              <a:buNone/>
            </a:pPr>
            <a:r>
              <a:rPr lang="en-US" sz="1600" dirty="0">
                <a:solidFill>
                  <a:srgbClr val="D4D4D4"/>
                </a:solidFill>
                <a:latin typeface="Consolas" pitchFamily="34" charset="0"/>
                <a:ea typeface="Consolas" pitchFamily="34" charset="-122"/>
                <a:cs typeface="Consolas" pitchFamily="34" charset="-120"/>
              </a:rPr>
              <a:t>    public int AppointmentId { get; set; }      // Primary key</a:t>
            </a:r>
            <a:endParaRPr lang="en-US" sz="1600" dirty="0"/>
          </a:p>
          <a:p>
            <a:pPr indent="0" marL="0">
              <a:buNone/>
            </a:pPr>
            <a:r>
              <a:rPr lang="en-US" sz="1600" dirty="0">
                <a:solidFill>
                  <a:srgbClr val="D4D4D4"/>
                </a:solidFill>
                <a:latin typeface="Consolas" pitchFamily="34" charset="0"/>
                <a:ea typeface="Consolas" pitchFamily="34" charset="-122"/>
                <a:cs typeface="Consolas" pitchFamily="34" charset="-120"/>
              </a:rPr>
              <a:t>    public string StudentNumber { get; set; }    // Foreign key</a:t>
            </a:r>
            <a:endParaRPr lang="en-US" sz="1600" dirty="0"/>
          </a:p>
          <a:p>
            <a:pPr indent="0" marL="0">
              <a:buNone/>
            </a:pPr>
            <a:r>
              <a:rPr lang="en-US" sz="1600" dirty="0">
                <a:solidFill>
                  <a:srgbClr val="D4D4D4"/>
                </a:solidFill>
                <a:latin typeface="Consolas" pitchFamily="34" charset="0"/>
                <a:ea typeface="Consolas" pitchFamily="34" charset="-122"/>
                <a:cs typeface="Consolas" pitchFamily="34" charset="-120"/>
              </a:rPr>
              <a:t>    public DateTime AppointmentDate { get; set; }</a:t>
            </a:r>
            <a:endParaRPr lang="en-US" sz="1600" dirty="0"/>
          </a:p>
          <a:p>
            <a:pPr indent="0" marL="0">
              <a:buNone/>
            </a:pPr>
            <a:r>
              <a:rPr lang="en-US" sz="1600" dirty="0">
                <a:solidFill>
                  <a:srgbClr val="D4D4D4"/>
                </a:solidFill>
                <a:latin typeface="Consolas" pitchFamily="34" charset="0"/>
                <a:ea typeface="Consolas" pitchFamily="34" charset="-122"/>
                <a:cs typeface="Consolas" pitchFamily="34" charset="-120"/>
              </a:rPr>
              <a:t>    public string Reason { get; set; }</a:t>
            </a:r>
            <a:endParaRPr lang="en-US" sz="1600" dirty="0"/>
          </a:p>
          <a:p>
            <a:pPr indent="0" marL="0">
              <a:buNone/>
            </a:pPr>
            <a:r>
              <a:rPr lang="en-US" sz="1600" dirty="0">
                <a:solidFill>
                  <a:srgbClr val="D4D4D4"/>
                </a:solidFill>
                <a:latin typeface="Consolas" pitchFamily="34" charset="0"/>
                <a:ea typeface="Consolas" pitchFamily="34" charset="-122"/>
                <a:cs typeface="Consolas" pitchFamily="34" charset="-120"/>
              </a:rPr>
              <a:t>    public string Status { get; set; }           // "Pending", "Approved"...</a:t>
            </a:r>
            <a:endParaRPr lang="en-US" sz="1600" dirty="0"/>
          </a:p>
          <a:p>
            <a:pPr indent="0" marL="0">
              <a:buNone/>
            </a:pPr>
            <a:r>
              <a:rPr lang="en-US" sz="1600" dirty="0">
                <a:solidFill>
                  <a:srgbClr val="D4D4D4"/>
                </a:solidFill>
                <a:latin typeface="Consolas" pitchFamily="34" charset="0"/>
                <a:ea typeface="Consolas" pitchFamily="34" charset="-122"/>
                <a:cs typeface="Consolas" pitchFamily="34" charset="-120"/>
              </a:rPr>
              <a: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Ejemplo técnico — El Controlador (C#)</a:t>
            </a:r>
            <a:endParaRPr lang="en-US" sz="2600" dirty="0"/>
          </a:p>
        </p:txBody>
      </p:sp>
      <p:sp>
        <p:nvSpPr>
          <p:cNvPr id="4" name="Shape 2"/>
          <p:cNvSpPr/>
          <p:nvPr/>
        </p:nvSpPr>
        <p:spPr>
          <a:xfrm>
            <a:off x="548640" y="1097280"/>
            <a:ext cx="11064240" cy="5394960"/>
          </a:xfrm>
          <a:prstGeom prst="roundRect">
            <a:avLst>
              <a:gd name="adj" fmla="val 847"/>
            </a:avLst>
          </a:prstGeom>
          <a:solidFill>
            <a:srgbClr val="1E1E1E"/>
          </a:solidFill>
          <a:ln w="12700">
            <a:solidFill>
              <a:srgbClr val="333333"/>
            </a:solidFill>
            <a:prstDash val="solid"/>
          </a:ln>
        </p:spPr>
      </p:sp>
      <p:sp>
        <p:nvSpPr>
          <p:cNvPr id="5" name="Text 3"/>
          <p:cNvSpPr/>
          <p:nvPr/>
        </p:nvSpPr>
        <p:spPr>
          <a:xfrm>
            <a:off x="822960" y="1280160"/>
            <a:ext cx="10515600" cy="5029200"/>
          </a:xfrm>
          <a:prstGeom prst="rect">
            <a:avLst/>
          </a:prstGeom>
          <a:noFill/>
          <a:ln/>
        </p:spPr>
        <p:txBody>
          <a:bodyPr wrap="square" rtlCol="0" anchor="t"/>
          <a:lstStyle/>
          <a:p>
            <a:pPr indent="0" marL="0">
              <a:buNone/>
            </a:pPr>
            <a:r>
              <a:rPr lang="en-US" sz="1300" dirty="0">
                <a:solidFill>
                  <a:srgbClr val="D4D4D4"/>
                </a:solidFill>
                <a:latin typeface="Consolas" pitchFamily="34" charset="0"/>
                <a:ea typeface="Consolas" pitchFamily="34" charset="-122"/>
                <a:cs typeface="Consolas" pitchFamily="34" charset="-120"/>
              </a:rPr>
              <a:t>public class AppointmentController</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public string CreateAppointment(Appointment appointment)</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if (appointment == null)</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return "Appointment information is missing.";</a:t>
            </a:r>
            <a:endParaRPr lang="en-US" sz="1300" dirty="0"/>
          </a:p>
          <a:p>
            <a:pPr indent="0" marL="0">
              <a:buNone/>
            </a:pP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if (string.IsNullOrWhiteSpace(appointment.StudentNumber))</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return "Student number is required.";</a:t>
            </a:r>
            <a:endParaRPr lang="en-US" sz="1300" dirty="0"/>
          </a:p>
          <a:p>
            <a:pPr indent="0" marL="0">
              <a:buNone/>
            </a:pP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appointment.StudentNumber = appointment.StudentNumber.Trim();</a:t>
            </a:r>
            <a:endParaRPr lang="en-US" sz="1300" dirty="0"/>
          </a:p>
          <a:p>
            <a:pPr indent="0" marL="0">
              <a:buNone/>
            </a:pP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if (appointment.AppointmentDate.Date &lt; DateTime.Today)</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return "Appointment date cannot be in the past.";</a:t>
            </a:r>
            <a:endParaRPr lang="en-US" sz="1300" dirty="0"/>
          </a:p>
          <a:p>
            <a:pPr indent="0" marL="0">
              <a:buNone/>
            </a:pP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appointment.Status = "Pending";</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 appointmentRepository.AddAppointment(appointment);</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return "Appointment created successfully.";</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Ejemplo técnico — La Vista llamando al Controlador (C#)</a:t>
            </a:r>
            <a:endParaRPr lang="en-US" sz="2600" dirty="0"/>
          </a:p>
        </p:txBody>
      </p:sp>
      <p:sp>
        <p:nvSpPr>
          <p:cNvPr id="4" name="Shape 2"/>
          <p:cNvSpPr/>
          <p:nvPr/>
        </p:nvSpPr>
        <p:spPr>
          <a:xfrm>
            <a:off x="548640" y="1097280"/>
            <a:ext cx="11064240" cy="5120640"/>
          </a:xfrm>
          <a:prstGeom prst="roundRect">
            <a:avLst>
              <a:gd name="adj" fmla="val 893"/>
            </a:avLst>
          </a:prstGeom>
          <a:solidFill>
            <a:srgbClr val="1E1E1E"/>
          </a:solidFill>
          <a:ln w="12700">
            <a:solidFill>
              <a:srgbClr val="333333"/>
            </a:solidFill>
            <a:prstDash val="solid"/>
          </a:ln>
        </p:spPr>
      </p:sp>
      <p:sp>
        <p:nvSpPr>
          <p:cNvPr id="5" name="Text 3"/>
          <p:cNvSpPr/>
          <p:nvPr/>
        </p:nvSpPr>
        <p:spPr>
          <a:xfrm>
            <a:off x="822960" y="1371600"/>
            <a:ext cx="10515600" cy="4572000"/>
          </a:xfrm>
          <a:prstGeom prst="rect">
            <a:avLst/>
          </a:prstGeom>
          <a:noFill/>
          <a:ln/>
        </p:spPr>
        <p:txBody>
          <a:bodyPr wrap="square" rtlCol="0" anchor="t"/>
          <a:lstStyle/>
          <a:p>
            <a:pPr indent="0" marL="0">
              <a:buNone/>
            </a:pPr>
            <a:r>
              <a:rPr lang="en-US" sz="1400" dirty="0">
                <a:solidFill>
                  <a:srgbClr val="D4D4D4"/>
                </a:solidFill>
                <a:latin typeface="Consolas" pitchFamily="34" charset="0"/>
                <a:ea typeface="Consolas" pitchFamily="34" charset="-122"/>
                <a:cs typeface="Consolas" pitchFamily="34" charset="-120"/>
              </a:rPr>
              <a:t>private void btnSubmit_Click(object sender, EventArgs e)</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Appointment newAppointment = new Appointment</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StudentNumber = txtStudentNumber.Text,</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AppointmentDate = dtpAppointmentDate.Value,</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Reason = txtReason.Text</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buNone/>
            </a:pP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AppointmentController controller = new AppointmentController();</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string result = controller.CreateAppointment(newAppointment);</a:t>
            </a:r>
            <a:endParaRPr lang="en-US" sz="1400" dirty="0"/>
          </a:p>
          <a:p>
            <a:pPr indent="0" marL="0">
              <a:buNone/>
            </a:pP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    MessageBox.Show(result);</a:t>
            </a:r>
            <a:endParaRPr lang="en-US" sz="1400" dirty="0"/>
          </a:p>
          <a:p>
            <a:pPr indent="0" marL="0">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7.11 MVC no es una sola tecnología</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MVC es un framework / patrón arquitectónico — no una herramienta específica de software.</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Error común: pensar que MVC solo aplica a frameworks web.</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El objetivo del curso es la idea arquitectónica de MVC, no memorizar una versión específica de una plataforma.</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En Windows Forms + C#, se aplica separando: código de interfaz, clases de datos, lógica de coordinación.</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La implementación técnica varía, pero el principio se mantiene igual.</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7.12 – 7.13 Mantenibilidad y trabajo en equipo</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Mantenibilidad:</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Si cambia la interfaz, el Modelo no debería reescribirse por completo.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Si cambia una regla de datos, la Vista no debería cargar con esa lógica.</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Si mejora la navegación, la estructura de datos no debería colapsar.</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Trabajo en equipo: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En proyectos reales: unos se enfocan en interfaz, otros en datos/lógica de negocio, otros en flujo/arquitectura.</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Un sistema bien separado facilita que distintas personas entiendan qué hace cada parte.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7.14 – 7.15 Programación dirigida por eventos y base de datos</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Event-driven programming:</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Clic de botón, cambio de selección, envío de formulario → el Controller responde al evento, accede al Modelo y actualiza la Vista.</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Trabajo con base de datos (conexión con Semana 6):</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El Modelo representa la cita y datos relacionados.</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El Controller decide cuándo ocurren las acciones Create, Read, Update, Delete (CRUD).</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La Vista muestra los resultados al usuario → el CRUD se vuelve menos aleatorio y más organizado.</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7.16 – 7.17 Deliverable II en la Semana 7</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Deliverable II representa el 30% del proyecto: segunda ronda completa de las fases del SDLC ágil, más Reporte y Presentación.</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Debe mostrar más madurez que el Deliverable I (que era apenas un primer prototipo funcional).</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Debe demostrar:</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Organización más clara, implementación más fuerte, estructura mejorada, pensamiento de segunda iteración, conexión seria entre interfaz, datos y comportamiento del sistema.</a:t>
            </a:r>
            <a:endParaRPr lang="en-US" sz="1800" dirty="0"/>
          </a:p>
          <a:p>
            <a:pPr indent="0" marL="0">
              <a:lnSpc>
                <a:spcPct val="115000"/>
              </a:lnSpc>
              <a:buNone/>
            </a:pPr>
            <a:r>
              <a:rPr lang="en-US" sz="1800" b="1" dirty="0">
                <a:solidFill>
                  <a:srgbClr val="E08E45"/>
                </a:solidFill>
                <a:latin typeface="Calibri" pitchFamily="34" charset="0"/>
                <a:ea typeface="Calibri" pitchFamily="34" charset="-122"/>
                <a:cs typeface="Calibri" pitchFamily="34" charset="-120"/>
              </a:rPr>
              <a:t>No es solo "más de lo mismo":</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Mejor organización de pantallas, mejor nomenclatura/estructura de código, separación más clara interfaz/datos, CRUD más robusto, mejor testing, presentación más profesional.</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7.18 – 7.19 Refactorización y errores comunes</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Refactorización útil en la Semana 7:</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Sacar lógica de datos repetida del formulario, mejorar nombres de métodos/controles, separar responsabilidades, reducir validaciones duplicadas, organizar archivos del proyecto.</a:t>
            </a:r>
            <a:endParaRPr lang="en-US" sz="1800" dirty="0"/>
          </a:p>
          <a:p>
            <a:pPr indent="0" marL="0">
              <a:lnSpc>
                <a:spcPct val="115000"/>
              </a:lnSpc>
              <a:buNone/>
            </a:pPr>
            <a:r>
              <a:rPr lang="en-US" sz="1800" b="1" dirty="0">
                <a:solidFill>
                  <a:srgbClr val="E08E45"/>
                </a:solidFill>
                <a:latin typeface="Calibri" pitchFamily="34" charset="0"/>
                <a:ea typeface="Calibri" pitchFamily="34" charset="-122"/>
                <a:cs typeface="Calibri" pitchFamily="34" charset="-120"/>
              </a:rPr>
              <a:t>Errores comunes a evitar:</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Pensar que MVC es solo vocabulario, seguir metiendo toda la lógica en el formulario, tratar el Modelo como una clase aleatoria sin estructura real, agregar funciones sin mejorar organización, hablar de MVC en el reporte sin mostrarlo en el proyecto, olvidar que hay que poder explicar la estructura en la presentación.</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B4965"/>
          </a:solidFill>
          <a:ln/>
        </p:spPr>
      </p:sp>
      <p:sp>
        <p:nvSpPr>
          <p:cNvPr id="3" name="Text 1"/>
          <p:cNvSpPr/>
          <p:nvPr/>
        </p:nvSpPr>
        <p:spPr>
          <a:xfrm>
            <a:off x="457200" y="0"/>
            <a:ext cx="1124712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7.21 – 7.22 Presentación y Reporte del Deliverable II</a:t>
            </a:r>
            <a:endParaRPr lang="en-US" sz="2600" dirty="0"/>
          </a:p>
        </p:txBody>
      </p:sp>
      <p:sp>
        <p:nvSpPr>
          <p:cNvPr id="4" name="Text 2"/>
          <p:cNvSpPr/>
          <p:nvPr/>
        </p:nvSpPr>
        <p:spPr>
          <a:xfrm>
            <a:off x="640080" y="1188720"/>
            <a:ext cx="10881360" cy="5212080"/>
          </a:xfrm>
          <a:prstGeom prst="rect">
            <a:avLst/>
          </a:prstGeom>
          <a:noFill/>
          <a:ln/>
        </p:spPr>
        <p:txBody>
          <a:bodyPr wrap="square" rtlCol="0" anchor="t"/>
          <a:lstStyle/>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En la presentación, estar listos para explicar:</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Qué hace el proyecto, qué mejoró desde el Deliverable I, cómo está más organizado el sistema ahora, dónde aparecen Model/View/Controller, qué falta para la siguiente iteración.</a:t>
            </a:r>
            <a:endParaRPr lang="en-US" sz="1800" dirty="0"/>
          </a:p>
          <a:p>
            <a:pPr indent="0" marL="0">
              <a:lnSpc>
                <a:spcPct val="115000"/>
              </a:lnSpc>
              <a:buNone/>
            </a:pPr>
            <a:r>
              <a:rPr lang="en-US" sz="1800" b="1" dirty="0">
                <a:solidFill>
                  <a:srgbClr val="1B4965"/>
                </a:solidFill>
                <a:latin typeface="Calibri" pitchFamily="34" charset="0"/>
                <a:ea typeface="Calibri" pitchFamily="34" charset="-122"/>
                <a:cs typeface="Calibri" pitchFamily="34" charset="-120"/>
              </a:rPr>
              <a:t>El Reporte del Deliverable II debe incluir:</a:t>
            </a:r>
            <a:endParaRPr lang="en-US" sz="1800" dirty="0"/>
          </a:p>
          <a:p>
            <a:pPr marL="342900" indent="-342900">
              <a:lnSpc>
                <a:spcPct val="115000"/>
              </a:lnSpc>
              <a:buSzPct val="100000"/>
              <a:buChar char="•"/>
            </a:pPr>
            <a:r>
              <a:rPr lang="en-US" sz="1800" dirty="0">
                <a:solidFill>
                  <a:srgbClr val="1F2A33"/>
                </a:solidFill>
                <a:latin typeface="Calibri" pitchFamily="34" charset="0"/>
                <a:ea typeface="Calibri" pitchFamily="34" charset="-122"/>
                <a:cs typeface="Calibri" pitchFamily="34" charset="-120"/>
              </a:rPr>
              <a:t>Título y propósito, usuarios principales, qué cambió desde Deliverable I, mejoras de arquitectura/estructura, mejoras de interfaz, mejoras de CRUD/datos, cómo se aplicó el pensamiento MVC, qué queda para la siguiente fase.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4965"/>
        </a:solidFill>
      </p:bgPr>
    </p:bg>
    <p:spTree>
      <p:nvGrpSpPr>
        <p:cNvPr id="1" name=""/>
        <p:cNvGrpSpPr/>
        <p:nvPr/>
      </p:nvGrpSpPr>
      <p:grpSpPr>
        <a:xfrm>
          <a:off x="0" y="0"/>
          <a:ext cx="0" cy="0"/>
          <a:chOff x="0" y="0"/>
          <a:chExt cx="0" cy="0"/>
        </a:xfrm>
      </p:grpSpPr>
      <p:sp>
        <p:nvSpPr>
          <p:cNvPr id="2" name="Text 0"/>
          <p:cNvSpPr/>
          <p:nvPr/>
        </p:nvSpPr>
        <p:spPr>
          <a:xfrm>
            <a:off x="640080" y="548640"/>
            <a:ext cx="10515600" cy="822960"/>
          </a:xfrm>
          <a:prstGeom prst="rect">
            <a:avLst/>
          </a:prstGeom>
          <a:noFill/>
          <a:ln/>
        </p:spPr>
        <p:txBody>
          <a:bodyPr wrap="square" rtlCol="0" anchor="ctr"/>
          <a:lstStyle/>
          <a:p>
            <a:pPr indent="0" marL="0">
              <a:buNone/>
            </a:pPr>
            <a:r>
              <a:rPr lang="en-US" sz="3000" b="1" dirty="0">
                <a:solidFill>
                  <a:srgbClr val="FFFFFF"/>
                </a:solidFill>
              </a:rPr>
              <a:t>Resumen del Capítulo 7</a:t>
            </a:r>
            <a:endParaRPr lang="en-US" sz="3000" dirty="0"/>
          </a:p>
        </p:txBody>
      </p:sp>
      <p:sp>
        <p:nvSpPr>
          <p:cNvPr id="3" name="Text 1"/>
          <p:cNvSpPr/>
          <p:nvPr/>
        </p:nvSpPr>
        <p:spPr>
          <a:xfrm>
            <a:off x="640080" y="1645920"/>
            <a:ext cx="10515600" cy="4114800"/>
          </a:xfrm>
          <a:prstGeom prst="rect">
            <a:avLst/>
          </a:prstGeom>
          <a:noFill/>
          <a:ln/>
        </p:spPr>
        <p:txBody>
          <a:bodyPr wrap="square" rtlCol="0" anchor="ctr"/>
          <a:lstStyle/>
          <a:p>
            <a:pPr marL="342900" indent="-342900">
              <a:lnSpc>
                <a:spcPct val="125000"/>
              </a:lnSpc>
              <a:buSzPct val="100000"/>
              <a:buChar char="•"/>
            </a:pPr>
            <a:r>
              <a:rPr lang="en-US" sz="1900" dirty="0">
                <a:solidFill>
                  <a:srgbClr val="FFFFFF"/>
                </a:solidFill>
                <a:latin typeface="Calibri" pitchFamily="34" charset="0"/>
                <a:ea typeface="Calibri" pitchFamily="34" charset="-122"/>
                <a:cs typeface="Calibri" pitchFamily="34" charset="-120"/>
              </a:rPr>
              <a:t>MVC organiza el sistema en Model, View y Controller para evitar mezclar datos, interfaz y lógica de control.</a:t>
            </a:r>
            <a:endParaRPr lang="en-US" sz="1900" dirty="0"/>
          </a:p>
          <a:p>
            <a:pPr marL="342900" indent="-342900">
              <a:lnSpc>
                <a:spcPct val="125000"/>
              </a:lnSpc>
              <a:buSzPct val="100000"/>
              <a:buChar char="•"/>
            </a:pPr>
            <a:r>
              <a:rPr lang="en-US" sz="1900" dirty="0">
                <a:solidFill>
                  <a:srgbClr val="FFFFFF"/>
                </a:solidFill>
                <a:latin typeface="Calibri" pitchFamily="34" charset="0"/>
                <a:ea typeface="Calibri" pitchFamily="34" charset="-122"/>
                <a:cs typeface="Calibri" pitchFamily="34" charset="-120"/>
              </a:rPr>
              <a:t>Un proyecto exitoso no solo agrega funciones: también separa responsabilidades para ser más fácil de mantener, explicar y mejorar.</a:t>
            </a:r>
            <a:endParaRPr lang="en-US" sz="1900" dirty="0"/>
          </a:p>
          <a:p>
            <a:pPr marL="342900" indent="-342900">
              <a:lnSpc>
                <a:spcPct val="125000"/>
              </a:lnSpc>
              <a:buSzPct val="100000"/>
              <a:buChar char="•"/>
            </a:pPr>
            <a:r>
              <a:rPr lang="en-US" sz="1900" dirty="0">
                <a:solidFill>
                  <a:srgbClr val="FFFFFF"/>
                </a:solidFill>
                <a:latin typeface="Calibri" pitchFamily="34" charset="0"/>
                <a:ea typeface="Calibri" pitchFamily="34" charset="-122"/>
                <a:cs typeface="Calibri" pitchFamily="34" charset="-120"/>
              </a:rPr>
              <a:t>Week 7 es el puente entre el primer prototipo (Deliverable I) y una aplicación con diseño más profesional (Deliverable II).</a:t>
            </a:r>
            <a:endParaRPr lang="en-US" sz="1900" dirty="0"/>
          </a:p>
          <a:p>
            <a:pPr marL="342900" indent="-342900">
              <a:lnSpc>
                <a:spcPct val="125000"/>
              </a:lnSpc>
              <a:buSzPct val="100000"/>
              <a:buChar char="•"/>
            </a:pPr>
            <a:r>
              <a:rPr lang="en-US" sz="1900" b="1" dirty="0">
                <a:solidFill>
                  <a:srgbClr val="E08E45"/>
                </a:solidFill>
                <a:latin typeface="Calibri" pitchFamily="34" charset="0"/>
                <a:ea typeface="Calibri" pitchFamily="34" charset="-122"/>
                <a:cs typeface="Calibri" pitchFamily="34" charset="-120"/>
              </a:rPr>
              <a:t>Flujo a recordar: User → View → Controller → Model → Controller → View.</a:t>
            </a:r>
            <a:endParaRPr lang="en-US" sz="1900" dirty="0"/>
          </a:p>
        </p:txBody>
      </p:sp>
      <p:sp>
        <p:nvSpPr>
          <p:cNvPr id="4" name="Text 2"/>
          <p:cNvSpPr/>
          <p:nvPr/>
        </p:nvSpPr>
        <p:spPr>
          <a:xfrm>
            <a:off x="640080" y="6035040"/>
            <a:ext cx="9144000" cy="457200"/>
          </a:xfrm>
          <a:prstGeom prst="rect">
            <a:avLst/>
          </a:prstGeom>
          <a:noFill/>
          <a:ln/>
        </p:spPr>
        <p:txBody>
          <a:bodyPr wrap="square" rtlCol="0" anchor="ctr"/>
          <a:lstStyle/>
          <a:p>
            <a:pPr indent="0" marL="0">
              <a:buNone/>
            </a:pPr>
            <a:r>
              <a:rPr lang="en-US" sz="1600" i="1" dirty="0">
                <a:solidFill>
                  <a:srgbClr val="5FA8D3"/>
                </a:solidFill>
              </a:rPr>
              <a:t>¡Gracias! Preguntas y discusión.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2026-06-29T20:24:55Z</dcterms:created>
  <dcterms:modified xsi:type="dcterms:W3CDTF">2026-06-29T20:24:55Z</dcterms:modified>
</cp:coreProperties>
</file>